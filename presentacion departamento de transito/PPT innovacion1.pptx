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1"/>
  </p:sldMasterIdLst>
  <p:sldIdLst>
    <p:sldId id="258" r:id="rId2"/>
    <p:sldId id="257" r:id="rId3"/>
    <p:sldId id="259" r:id="rId4"/>
    <p:sldId id="260" r:id="rId5"/>
    <p:sldId id="261" r:id="rId6"/>
    <p:sldId id="262" r:id="rId7"/>
    <p:sldId id="265" r:id="rId8"/>
    <p:sldId id="264" r:id="rId9"/>
    <p:sldId id="268" r:id="rId10"/>
    <p:sldId id="266" r:id="rId11"/>
    <p:sldId id="267" r:id="rId12"/>
    <p:sldId id="263" r:id="rId13"/>
    <p:sldId id="270" r:id="rId14"/>
    <p:sldId id="269"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EF11B73-C3EC-423A-A532-F7C7EC04239D}" type="datetimeFigureOut">
              <a:rPr lang="es-CL" smtClean="0"/>
              <a:t>12-06-2025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DCF5D446-1EB2-4AB7-96E8-6A3C1C40D925}" type="slidenum">
              <a:rPr lang="es-CL" smtClean="0"/>
              <a:t>‹Nº›</a:t>
            </a:fld>
            <a:endParaRPr lang="es-CL"/>
          </a:p>
        </p:txBody>
      </p:sp>
    </p:spTree>
    <p:extLst>
      <p:ext uri="{BB962C8B-B14F-4D97-AF65-F5344CB8AC3E}">
        <p14:creationId xmlns:p14="http://schemas.microsoft.com/office/powerpoint/2010/main" val="984861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EF11B73-C3EC-423A-A532-F7C7EC04239D}" type="datetimeFigureOut">
              <a:rPr lang="es-CL" smtClean="0"/>
              <a:t>12-06-2025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DCF5D446-1EB2-4AB7-96E8-6A3C1C40D925}" type="slidenum">
              <a:rPr lang="es-CL" smtClean="0"/>
              <a:t>‹Nº›</a:t>
            </a:fld>
            <a:endParaRPr lang="es-CL"/>
          </a:p>
        </p:txBody>
      </p:sp>
    </p:spTree>
    <p:extLst>
      <p:ext uri="{BB962C8B-B14F-4D97-AF65-F5344CB8AC3E}">
        <p14:creationId xmlns:p14="http://schemas.microsoft.com/office/powerpoint/2010/main" val="1652621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8593667" y="6272784"/>
            <a:ext cx="2644309" cy="365125"/>
          </a:xfrm>
        </p:spPr>
        <p:txBody>
          <a:bodyPr/>
          <a:lstStyle/>
          <a:p>
            <a:fld id="{4EF11B73-C3EC-423A-A532-F7C7EC04239D}" type="datetimeFigureOut">
              <a:rPr lang="es-CL" smtClean="0"/>
              <a:t>12-06-2025</a:t>
            </a:fld>
            <a:endParaRPr lang="es-CL"/>
          </a:p>
        </p:txBody>
      </p:sp>
      <p:sp>
        <p:nvSpPr>
          <p:cNvPr id="5" name="Footer Placeholder 4"/>
          <p:cNvSpPr>
            <a:spLocks noGrp="1"/>
          </p:cNvSpPr>
          <p:nvPr>
            <p:ph type="ftr" sz="quarter" idx="11"/>
          </p:nvPr>
        </p:nvSpPr>
        <p:spPr>
          <a:xfrm>
            <a:off x="2182708" y="6272784"/>
            <a:ext cx="6327648" cy="365125"/>
          </a:xfrm>
        </p:spPr>
        <p:txBody>
          <a:bodyPr/>
          <a:lstStyle/>
          <a:p>
            <a:endParaRPr lang="es-CL"/>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DCF5D446-1EB2-4AB7-96E8-6A3C1C40D925}" type="slidenum">
              <a:rPr lang="es-CL" smtClean="0"/>
              <a:t>‹Nº›</a:t>
            </a:fld>
            <a:endParaRPr lang="es-CL"/>
          </a:p>
        </p:txBody>
      </p:sp>
    </p:spTree>
    <p:extLst>
      <p:ext uri="{BB962C8B-B14F-4D97-AF65-F5344CB8AC3E}">
        <p14:creationId xmlns:p14="http://schemas.microsoft.com/office/powerpoint/2010/main" val="3282332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EF11B73-C3EC-423A-A532-F7C7EC04239D}" type="datetimeFigureOut">
              <a:rPr lang="es-CL" smtClean="0"/>
              <a:t>12-06-2025</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DCF5D446-1EB2-4AB7-96E8-6A3C1C40D925}" type="slidenum">
              <a:rPr lang="es-CL" smtClean="0"/>
              <a:t>‹Nº›</a:t>
            </a:fld>
            <a:endParaRPr lang="es-CL"/>
          </a:p>
        </p:txBody>
      </p:sp>
    </p:spTree>
    <p:extLst>
      <p:ext uri="{BB962C8B-B14F-4D97-AF65-F5344CB8AC3E}">
        <p14:creationId xmlns:p14="http://schemas.microsoft.com/office/powerpoint/2010/main" val="2105683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EF11B73-C3EC-423A-A532-F7C7EC04239D}" type="datetimeFigureOut">
              <a:rPr lang="es-CL" smtClean="0"/>
              <a:t>12-06-2025</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DCF5D446-1EB2-4AB7-96E8-6A3C1C40D925}" type="slidenum">
              <a:rPr lang="es-CL" smtClean="0"/>
              <a:t>‹Nº›</a:t>
            </a:fld>
            <a:endParaRPr lang="es-CL"/>
          </a:p>
        </p:txBody>
      </p:sp>
    </p:spTree>
    <p:extLst>
      <p:ext uri="{BB962C8B-B14F-4D97-AF65-F5344CB8AC3E}">
        <p14:creationId xmlns:p14="http://schemas.microsoft.com/office/powerpoint/2010/main" val="342207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EF11B73-C3EC-423A-A532-F7C7EC04239D}" type="datetimeFigureOut">
              <a:rPr lang="es-CL" smtClean="0"/>
              <a:t>12-06-2025</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DCF5D446-1EB2-4AB7-96E8-6A3C1C40D925}" type="slidenum">
              <a:rPr lang="es-CL" smtClean="0"/>
              <a:t>‹Nº›</a:t>
            </a:fld>
            <a:endParaRPr lang="es-CL"/>
          </a:p>
        </p:txBody>
      </p:sp>
    </p:spTree>
    <p:extLst>
      <p:ext uri="{BB962C8B-B14F-4D97-AF65-F5344CB8AC3E}">
        <p14:creationId xmlns:p14="http://schemas.microsoft.com/office/powerpoint/2010/main" val="97317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F11B73-C3EC-423A-A532-F7C7EC04239D}" type="datetimeFigureOut">
              <a:rPr lang="es-CL" smtClean="0"/>
              <a:t>12-06-2025</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DCF5D446-1EB2-4AB7-96E8-6A3C1C40D925}" type="slidenum">
              <a:rPr lang="es-CL" smtClean="0"/>
              <a:t>‹Nº›</a:t>
            </a:fld>
            <a:endParaRPr lang="es-CL"/>
          </a:p>
        </p:txBody>
      </p:sp>
    </p:spTree>
    <p:extLst>
      <p:ext uri="{BB962C8B-B14F-4D97-AF65-F5344CB8AC3E}">
        <p14:creationId xmlns:p14="http://schemas.microsoft.com/office/powerpoint/2010/main" val="2270662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ES"/>
              <a:t>Haga clic para modificar el estilo de título del patrón</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EF11B73-C3EC-423A-A532-F7C7EC04239D}" type="datetimeFigureOut">
              <a:rPr lang="es-CL" smtClean="0"/>
              <a:t>12-06-2025</a:t>
            </a:fld>
            <a:endParaRPr lang="es-CL"/>
          </a:p>
        </p:txBody>
      </p:sp>
      <p:sp>
        <p:nvSpPr>
          <p:cNvPr id="6" name="Footer Placeholder 5"/>
          <p:cNvSpPr>
            <a:spLocks noGrp="1"/>
          </p:cNvSpPr>
          <p:nvPr>
            <p:ph type="ftr" sz="quarter" idx="11"/>
          </p:nvPr>
        </p:nvSpPr>
        <p:spPr/>
        <p:txBody>
          <a:bodyPr/>
          <a:lstStyle/>
          <a:p>
            <a:endParaRPr lang="es-CL"/>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DCF5D446-1EB2-4AB7-96E8-6A3C1C40D925}" type="slidenum">
              <a:rPr lang="es-CL" smtClean="0"/>
              <a:t>‹Nº›</a:t>
            </a:fld>
            <a:endParaRPr lang="es-CL"/>
          </a:p>
        </p:txBody>
      </p:sp>
    </p:spTree>
    <p:extLst>
      <p:ext uri="{BB962C8B-B14F-4D97-AF65-F5344CB8AC3E}">
        <p14:creationId xmlns:p14="http://schemas.microsoft.com/office/powerpoint/2010/main" val="269248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EF11B73-C3EC-423A-A532-F7C7EC04239D}" type="datetimeFigureOut">
              <a:rPr lang="es-CL" smtClean="0"/>
              <a:t>12-06-2025</a:t>
            </a:fld>
            <a:endParaRPr lang="es-CL"/>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DCF5D446-1EB2-4AB7-96E8-6A3C1C40D925}" type="slidenum">
              <a:rPr lang="es-CL" smtClean="0"/>
              <a:t>‹Nº›</a:t>
            </a:fld>
            <a:endParaRPr lang="es-CL"/>
          </a:p>
        </p:txBody>
      </p:sp>
    </p:spTree>
    <p:extLst>
      <p:ext uri="{BB962C8B-B14F-4D97-AF65-F5344CB8AC3E}">
        <p14:creationId xmlns:p14="http://schemas.microsoft.com/office/powerpoint/2010/main" val="3446376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EF11B73-C3EC-423A-A532-F7C7EC04239D}" type="datetimeFigureOut">
              <a:rPr lang="es-CL" smtClean="0"/>
              <a:t>12-06-2025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DCF5D446-1EB2-4AB7-96E8-6A3C1C40D925}" type="slidenum">
              <a:rPr lang="es-CL" smtClean="0"/>
              <a:t>‹Nº›</a:t>
            </a:fld>
            <a:endParaRPr lang="es-CL"/>
          </a:p>
        </p:txBody>
      </p:sp>
    </p:spTree>
    <p:extLst>
      <p:ext uri="{BB962C8B-B14F-4D97-AF65-F5344CB8AC3E}">
        <p14:creationId xmlns:p14="http://schemas.microsoft.com/office/powerpoint/2010/main" val="1075098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EF11B73-C3EC-423A-A532-F7C7EC04239D}" type="datetimeFigureOut">
              <a:rPr lang="es-CL" smtClean="0"/>
              <a:t>12-06-2025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DCF5D446-1EB2-4AB7-96E8-6A3C1C40D925}" type="slidenum">
              <a:rPr lang="es-CL" smtClean="0"/>
              <a:t>‹Nº›</a:t>
            </a:fld>
            <a:endParaRPr lang="es-CL"/>
          </a:p>
        </p:txBody>
      </p:sp>
    </p:spTree>
    <p:extLst>
      <p:ext uri="{BB962C8B-B14F-4D97-AF65-F5344CB8AC3E}">
        <p14:creationId xmlns:p14="http://schemas.microsoft.com/office/powerpoint/2010/main" val="214653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4EF11B73-C3EC-423A-A532-F7C7EC04239D}" type="datetimeFigureOut">
              <a:rPr lang="es-CL" smtClean="0"/>
              <a:t>12-06-2025</a:t>
            </a:fld>
            <a:endParaRPr lang="es-CL"/>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s-CL"/>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DCF5D446-1EB2-4AB7-96E8-6A3C1C40D925}" type="slidenum">
              <a:rPr lang="es-CL" smtClean="0"/>
              <a:t>‹Nº›</a:t>
            </a:fld>
            <a:endParaRPr lang="es-CL"/>
          </a:p>
        </p:txBody>
      </p:sp>
    </p:spTree>
    <p:extLst>
      <p:ext uri="{BB962C8B-B14F-4D97-AF65-F5344CB8AC3E}">
        <p14:creationId xmlns:p14="http://schemas.microsoft.com/office/powerpoint/2010/main" val="982625942"/>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a:spLocks noGrp="1"/>
          </p:cNvSpPr>
          <p:nvPr>
            <p:ph type="ctrTitle"/>
          </p:nvPr>
        </p:nvSpPr>
        <p:spPr>
          <a:xfrm>
            <a:off x="2135560" y="2947567"/>
            <a:ext cx="7772400" cy="685347"/>
          </a:xfrm>
        </p:spPr>
        <p:txBody>
          <a:bodyPr>
            <a:normAutofit fontScale="90000"/>
          </a:bodyPr>
          <a:lstStyle/>
          <a:p>
            <a:r>
              <a:rPr lang="es-ES" sz="3600" b="1" dirty="0">
                <a:solidFill>
                  <a:srgbClr val="D40202"/>
                </a:solidFill>
                <a:latin typeface="+mn-lt"/>
                <a:cs typeface="Myriad Pro"/>
              </a:rPr>
              <a:t>D</a:t>
            </a:r>
            <a:r>
              <a:rPr lang="es-CL" sz="3600" b="1" dirty="0" err="1">
                <a:solidFill>
                  <a:srgbClr val="D40202"/>
                </a:solidFill>
                <a:latin typeface="+mn-lt"/>
                <a:cs typeface="Myriad Pro"/>
              </a:rPr>
              <a:t>etección</a:t>
            </a:r>
            <a:r>
              <a:rPr lang="es-CL" sz="3600" b="1" dirty="0">
                <a:solidFill>
                  <a:srgbClr val="D40202"/>
                </a:solidFill>
                <a:latin typeface="+mn-lt"/>
                <a:cs typeface="Myriad Pro"/>
              </a:rPr>
              <a:t> de oportunidades e ideación de propuestas.</a:t>
            </a:r>
          </a:p>
        </p:txBody>
      </p:sp>
      <p:sp>
        <p:nvSpPr>
          <p:cNvPr id="15" name="Subtítulo 2"/>
          <p:cNvSpPr>
            <a:spLocks noGrp="1"/>
          </p:cNvSpPr>
          <p:nvPr>
            <p:ph type="subTitle" idx="1"/>
          </p:nvPr>
        </p:nvSpPr>
        <p:spPr>
          <a:xfrm>
            <a:off x="2821360" y="3716444"/>
            <a:ext cx="6400800" cy="362194"/>
          </a:xfrm>
        </p:spPr>
        <p:txBody>
          <a:bodyPr>
            <a:normAutofit fontScale="92500" lnSpcReduction="10000"/>
          </a:bodyPr>
          <a:lstStyle/>
          <a:p>
            <a:r>
              <a:rPr lang="es-CL" dirty="0">
                <a:latin typeface="+mj-lt"/>
                <a:cs typeface="Myriad Pro"/>
              </a:rPr>
              <a:t>Departamento de transito.</a:t>
            </a:r>
          </a:p>
        </p:txBody>
      </p:sp>
      <p:sp>
        <p:nvSpPr>
          <p:cNvPr id="10" name="Rectángulo 9"/>
          <p:cNvSpPr/>
          <p:nvPr/>
        </p:nvSpPr>
        <p:spPr>
          <a:xfrm>
            <a:off x="1993608" y="1"/>
            <a:ext cx="1867756" cy="1867756"/>
          </a:xfrm>
          <a:prstGeom prst="rect">
            <a:avLst/>
          </a:prstGeom>
          <a:solidFill>
            <a:srgbClr val="D402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11" name="Título 1"/>
          <p:cNvSpPr txBox="1">
            <a:spLocks/>
          </p:cNvSpPr>
          <p:nvPr/>
        </p:nvSpPr>
        <p:spPr>
          <a:xfrm>
            <a:off x="1993608" y="160082"/>
            <a:ext cx="1867757" cy="757701"/>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s-ES" sz="1400" kern="1400" dirty="0">
                <a:solidFill>
                  <a:schemeClr val="bg1"/>
                </a:solidFill>
                <a:latin typeface="Myriad Pro Light"/>
                <a:cs typeface="Myriad Pro Light"/>
              </a:rPr>
              <a:t>Tecnologías de información y ciberseguridad</a:t>
            </a:r>
            <a:endParaRPr lang="es-CL" sz="1400" kern="1400" dirty="0">
              <a:solidFill>
                <a:schemeClr val="bg1"/>
              </a:solidFill>
              <a:latin typeface="Myriad Pro Light"/>
              <a:cs typeface="Myriad Pro Light"/>
            </a:endParaRPr>
          </a:p>
        </p:txBody>
      </p:sp>
      <p:pic>
        <p:nvPicPr>
          <p:cNvPr id="12" name="Imagen 11" desc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2447" y="1332361"/>
            <a:ext cx="1270076" cy="342346"/>
          </a:xfrm>
          <a:prstGeom prst="rect">
            <a:avLst/>
          </a:prstGeom>
        </p:spPr>
      </p:pic>
      <p:cxnSp>
        <p:nvCxnSpPr>
          <p:cNvPr id="14" name="Conector recto 13"/>
          <p:cNvCxnSpPr/>
          <p:nvPr/>
        </p:nvCxnSpPr>
        <p:spPr>
          <a:xfrm>
            <a:off x="2139295" y="1077855"/>
            <a:ext cx="1576383" cy="0"/>
          </a:xfrm>
          <a:prstGeom prst="line">
            <a:avLst/>
          </a:prstGeom>
          <a:ln w="9525" cmpd="sng">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6" name="CuadroTexto 15"/>
          <p:cNvSpPr txBox="1"/>
          <p:nvPr/>
        </p:nvSpPr>
        <p:spPr>
          <a:xfrm>
            <a:off x="870698" y="4462856"/>
            <a:ext cx="4219425" cy="2395336"/>
          </a:xfrm>
          <a:prstGeom prst="rect">
            <a:avLst/>
          </a:prstGeom>
          <a:noFill/>
        </p:spPr>
        <p:txBody>
          <a:bodyPr wrap="none" rtlCol="0">
            <a:spAutoFit/>
          </a:bodyPr>
          <a:lstStyle/>
          <a:p>
            <a:r>
              <a:rPr lang="es-CL" sz="1400" dirty="0">
                <a:latin typeface="Arial" panose="020B0604020202020204" pitchFamily="34" charset="0"/>
                <a:cs typeface="Arial" panose="020B0604020202020204" pitchFamily="34" charset="0"/>
              </a:rPr>
              <a:t>NOMBRE: </a:t>
            </a:r>
          </a:p>
          <a:p>
            <a:r>
              <a:rPr lang="es-CL" sz="1400" dirty="0">
                <a:latin typeface="Arial" panose="020B0604020202020204" pitchFamily="34" charset="0"/>
                <a:cs typeface="Arial" panose="020B0604020202020204" pitchFamily="34" charset="0"/>
              </a:rPr>
              <a:t>-Daniel Valdebenito</a:t>
            </a:r>
          </a:p>
          <a:p>
            <a:r>
              <a:rPr lang="es-CL" sz="1400" dirty="0">
                <a:latin typeface="Arial" panose="020B0604020202020204" pitchFamily="34" charset="0"/>
                <a:cs typeface="Arial" panose="020B0604020202020204" pitchFamily="34" charset="0"/>
              </a:rPr>
              <a:t>-Benjamin Maldonado</a:t>
            </a:r>
          </a:p>
          <a:p>
            <a:r>
              <a:rPr lang="es-CL" sz="1400" dirty="0">
                <a:latin typeface="Arial" panose="020B0604020202020204" pitchFamily="34" charset="0"/>
                <a:cs typeface="Arial" panose="020B0604020202020204" pitchFamily="34" charset="0"/>
              </a:rPr>
              <a:t>-Alejandro Linares</a:t>
            </a:r>
          </a:p>
          <a:p>
            <a:r>
              <a:rPr lang="es-CL" sz="1400" dirty="0">
                <a:latin typeface="Arial" panose="020B0604020202020204" pitchFamily="34" charset="0"/>
                <a:cs typeface="Arial" panose="020B0604020202020204" pitchFamily="34" charset="0"/>
              </a:rPr>
              <a:t>-Jacob Martínez</a:t>
            </a:r>
          </a:p>
          <a:p>
            <a:r>
              <a:rPr lang="es-CL" sz="1400" dirty="0">
                <a:latin typeface="Arial" panose="020B0604020202020204" pitchFamily="34" charset="0"/>
                <a:cs typeface="Arial" panose="020B0604020202020204" pitchFamily="34" charset="0"/>
              </a:rPr>
              <a:t>-Víctor Riquelme</a:t>
            </a:r>
          </a:p>
          <a:p>
            <a:pPr>
              <a:lnSpc>
                <a:spcPct val="120000"/>
              </a:lnSpc>
            </a:pPr>
            <a:r>
              <a:rPr lang="es-CL" sz="1400" dirty="0">
                <a:latin typeface="Arial" panose="020B0604020202020204" pitchFamily="34" charset="0"/>
                <a:cs typeface="Arial" panose="020B0604020202020204" pitchFamily="34" charset="0"/>
              </a:rPr>
              <a:t>CARRERA: Técnico analista programador</a:t>
            </a:r>
          </a:p>
          <a:p>
            <a:pPr>
              <a:lnSpc>
                <a:spcPct val="120000"/>
              </a:lnSpc>
            </a:pPr>
            <a:r>
              <a:rPr lang="es-CL" sz="1400" dirty="0">
                <a:latin typeface="Arial" panose="020B0604020202020204" pitchFamily="34" charset="0"/>
                <a:cs typeface="Arial" panose="020B0604020202020204" pitchFamily="34" charset="0"/>
              </a:rPr>
              <a:t>ASIGNTATURA: Innovación y Emprendimiento</a:t>
            </a:r>
          </a:p>
          <a:p>
            <a:pPr>
              <a:lnSpc>
                <a:spcPct val="120000"/>
              </a:lnSpc>
            </a:pPr>
            <a:r>
              <a:rPr lang="es-CL" sz="1400" dirty="0">
                <a:latin typeface="Arial" panose="020B0604020202020204" pitchFamily="34" charset="0"/>
                <a:cs typeface="Arial" panose="020B0604020202020204" pitchFamily="34" charset="0"/>
              </a:rPr>
              <a:t>PROFESOR: </a:t>
            </a:r>
            <a:r>
              <a:rPr lang="es-CL" sz="1400" dirty="0" err="1">
                <a:latin typeface="Arial" panose="020B0604020202020204" pitchFamily="34" charset="0"/>
                <a:cs typeface="Arial" panose="020B0604020202020204" pitchFamily="34" charset="0"/>
              </a:rPr>
              <a:t>Estefania</a:t>
            </a:r>
            <a:r>
              <a:rPr lang="es-CL" sz="1400" dirty="0">
                <a:latin typeface="Arial" panose="020B0604020202020204" pitchFamily="34" charset="0"/>
                <a:cs typeface="Arial" panose="020B0604020202020204" pitchFamily="34" charset="0"/>
              </a:rPr>
              <a:t> Salomé </a:t>
            </a:r>
            <a:r>
              <a:rPr lang="es-CL" sz="1400" dirty="0" err="1">
                <a:latin typeface="Arial" panose="020B0604020202020204" pitchFamily="34" charset="0"/>
                <a:cs typeface="Arial" panose="020B0604020202020204" pitchFamily="34" charset="0"/>
              </a:rPr>
              <a:t>Gonzalés</a:t>
            </a:r>
            <a:r>
              <a:rPr lang="es-CL" sz="1400" dirty="0">
                <a:latin typeface="Arial" panose="020B0604020202020204" pitchFamily="34" charset="0"/>
                <a:cs typeface="Arial" panose="020B0604020202020204" pitchFamily="34" charset="0"/>
              </a:rPr>
              <a:t> Cáceres</a:t>
            </a:r>
          </a:p>
          <a:p>
            <a:pPr>
              <a:lnSpc>
                <a:spcPct val="120000"/>
              </a:lnSpc>
            </a:pPr>
            <a:r>
              <a:rPr lang="es-CL" sz="1400" dirty="0">
                <a:latin typeface="Arial" panose="020B0604020202020204" pitchFamily="34" charset="0"/>
                <a:cs typeface="Arial" panose="020B0604020202020204" pitchFamily="34" charset="0"/>
              </a:rPr>
              <a:t>FECHA: 12-06-2025</a:t>
            </a:r>
          </a:p>
        </p:txBody>
      </p:sp>
      <p:pic>
        <p:nvPicPr>
          <p:cNvPr id="18" name="Imagen 17"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04221" y="6499599"/>
            <a:ext cx="924848" cy="249644"/>
          </a:xfrm>
          <a:prstGeom prst="rect">
            <a:avLst/>
          </a:prstGeom>
        </p:spPr>
      </p:pic>
    </p:spTree>
    <p:extLst>
      <p:ext uri="{BB962C8B-B14F-4D97-AF65-F5344CB8AC3E}">
        <p14:creationId xmlns:p14="http://schemas.microsoft.com/office/powerpoint/2010/main" val="808890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25">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sp>
        <p:nvSpPr>
          <p:cNvPr id="62" name="Rectangle 27">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sp>
        <p:nvSpPr>
          <p:cNvPr id="63" name="Rectangle 29">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grpSp>
        <p:nvGrpSpPr>
          <p:cNvPr id="64" name="Group 31">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65" name="Oval 32">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s-CL"/>
            </a:p>
          </p:txBody>
        </p:sp>
        <p:sp>
          <p:nvSpPr>
            <p:cNvPr id="66" name="Oval 33">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s-CL"/>
            </a:p>
          </p:txBody>
        </p:sp>
      </p:grpSp>
      <p:sp>
        <p:nvSpPr>
          <p:cNvPr id="36" name="Rectangle 35">
            <a:extLst>
              <a:ext uri="{FF2B5EF4-FFF2-40B4-BE49-F238E27FC236}">
                <a16:creationId xmlns:a16="http://schemas.microsoft.com/office/drawing/2014/main" id="{48FDEBDB-5859-4B9E-8810-2C5CFED093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58BF278-9A8E-9BDC-B1C9-BCCAEEB4E65A}"/>
              </a:ext>
            </a:extLst>
          </p:cNvPr>
          <p:cNvSpPr>
            <a:spLocks noGrp="1"/>
          </p:cNvSpPr>
          <p:nvPr>
            <p:ph type="title"/>
          </p:nvPr>
        </p:nvSpPr>
        <p:spPr>
          <a:xfrm>
            <a:off x="920834" y="1516679"/>
            <a:ext cx="9966960" cy="3525056"/>
          </a:xfrm>
        </p:spPr>
        <p:txBody>
          <a:bodyPr vert="horz" lIns="91440" tIns="45720" rIns="91440" bIns="45720" rtlCol="0" anchor="b">
            <a:normAutofit fontScale="90000"/>
          </a:bodyPr>
          <a:lstStyle/>
          <a:p>
            <a:pPr algn="ctr">
              <a:lnSpc>
                <a:spcPct val="80000"/>
              </a:lnSpc>
            </a:pPr>
            <a:r>
              <a:rPr lang="en-US" sz="3800" b="1" dirty="0" err="1">
                <a:solidFill>
                  <a:srgbClr val="C00000"/>
                </a:solidFill>
                <a:latin typeface="+mn-lt"/>
                <a:cs typeface="Arial" panose="020B0604020202020204" pitchFamily="34" charset="0"/>
              </a:rPr>
              <a:t>Propuesta</a:t>
            </a:r>
            <a:r>
              <a:rPr lang="en-US" sz="3800" b="1" dirty="0">
                <a:solidFill>
                  <a:srgbClr val="C00000"/>
                </a:solidFill>
                <a:latin typeface="+mn-lt"/>
                <a:cs typeface="Arial" panose="020B0604020202020204" pitchFamily="34" charset="0"/>
              </a:rPr>
              <a:t> de </a:t>
            </a:r>
            <a:r>
              <a:rPr lang="en-US" sz="3800" b="1" dirty="0" err="1">
                <a:solidFill>
                  <a:srgbClr val="C00000"/>
                </a:solidFill>
                <a:latin typeface="+mn-lt"/>
                <a:cs typeface="Arial" panose="020B0604020202020204" pitchFamily="34" charset="0"/>
              </a:rPr>
              <a:t>desafío</a:t>
            </a:r>
            <a:r>
              <a:rPr lang="en-US" sz="3800" b="1" dirty="0">
                <a:solidFill>
                  <a:srgbClr val="C00000"/>
                </a:solidFill>
                <a:latin typeface="+mn-lt"/>
                <a:cs typeface="Arial" panose="020B0604020202020204" pitchFamily="34" charset="0"/>
              </a:rPr>
              <a:t>: </a:t>
            </a:r>
            <a:br>
              <a:rPr lang="en-US" sz="3800" dirty="0">
                <a:solidFill>
                  <a:srgbClr val="C00000"/>
                </a:solidFill>
                <a:latin typeface="Arial" panose="020B0604020202020204" pitchFamily="34" charset="0"/>
                <a:cs typeface="Arial" panose="020B0604020202020204" pitchFamily="34" charset="0"/>
              </a:rPr>
            </a:br>
            <a:br>
              <a:rPr lang="en-US" sz="3800" dirty="0">
                <a:solidFill>
                  <a:schemeClr val="tx1"/>
                </a:solidFill>
                <a:latin typeface="Arial" panose="020B0604020202020204" pitchFamily="34" charset="0"/>
                <a:cs typeface="Arial" panose="020B0604020202020204" pitchFamily="34" charset="0"/>
              </a:rPr>
            </a:br>
            <a:r>
              <a:rPr lang="en-US" sz="3600" dirty="0">
                <a:solidFill>
                  <a:schemeClr val="tx1"/>
                </a:solidFill>
                <a:latin typeface="Arial" panose="020B0604020202020204" pitchFamily="34" charset="0"/>
                <a:cs typeface="Arial" panose="020B0604020202020204" pitchFamily="34" charset="0"/>
              </a:rPr>
              <a:t>¿</a:t>
            </a:r>
            <a:r>
              <a:rPr lang="en-US" sz="3600" dirty="0" err="1">
                <a:solidFill>
                  <a:schemeClr val="tx1"/>
                </a:solidFill>
                <a:latin typeface="Arial" panose="020B0604020202020204" pitchFamily="34" charset="0"/>
                <a:cs typeface="Arial" panose="020B0604020202020204" pitchFamily="34" charset="0"/>
              </a:rPr>
              <a:t>Cómo</a:t>
            </a:r>
            <a:r>
              <a:rPr lang="en-US" sz="3600" dirty="0">
                <a:solidFill>
                  <a:schemeClr val="tx1"/>
                </a:solidFill>
                <a:latin typeface="Arial" panose="020B0604020202020204" pitchFamily="34" charset="0"/>
                <a:cs typeface="Arial" panose="020B0604020202020204" pitchFamily="34" charset="0"/>
              </a:rPr>
              <a:t> </a:t>
            </a:r>
            <a:r>
              <a:rPr lang="en-US" sz="3600" dirty="0" err="1">
                <a:solidFill>
                  <a:schemeClr val="tx1"/>
                </a:solidFill>
                <a:latin typeface="Arial" panose="020B0604020202020204" pitchFamily="34" charset="0"/>
                <a:cs typeface="Arial" panose="020B0604020202020204" pitchFamily="34" charset="0"/>
              </a:rPr>
              <a:t>podríamos</a:t>
            </a:r>
            <a:r>
              <a:rPr lang="en-US" sz="3600" dirty="0">
                <a:solidFill>
                  <a:schemeClr val="tx1"/>
                </a:solidFill>
                <a:latin typeface="Arial" panose="020B0604020202020204" pitchFamily="34" charset="0"/>
                <a:cs typeface="Arial" panose="020B0604020202020204" pitchFamily="34" charset="0"/>
              </a:rPr>
              <a:t> </a:t>
            </a:r>
            <a:r>
              <a:rPr lang="en-US" sz="3600" dirty="0" err="1">
                <a:solidFill>
                  <a:schemeClr val="tx1"/>
                </a:solidFill>
                <a:latin typeface="Arial" panose="020B0604020202020204" pitchFamily="34" charset="0"/>
                <a:cs typeface="Arial" panose="020B0604020202020204" pitchFamily="34" charset="0"/>
              </a:rPr>
              <a:t>fortalecer</a:t>
            </a:r>
            <a:r>
              <a:rPr lang="en-US" sz="3600" dirty="0">
                <a:solidFill>
                  <a:schemeClr val="tx1"/>
                </a:solidFill>
                <a:latin typeface="Arial" panose="020B0604020202020204" pitchFamily="34" charset="0"/>
                <a:cs typeface="Arial" panose="020B0604020202020204" pitchFamily="34" charset="0"/>
              </a:rPr>
              <a:t> la </a:t>
            </a:r>
            <a:r>
              <a:rPr lang="en-US" sz="3600" dirty="0" err="1">
                <a:solidFill>
                  <a:schemeClr val="tx1"/>
                </a:solidFill>
                <a:latin typeface="Arial" panose="020B0604020202020204" pitchFamily="34" charset="0"/>
                <a:cs typeface="Arial" panose="020B0604020202020204" pitchFamily="34" charset="0"/>
              </a:rPr>
              <a:t>gestión</a:t>
            </a:r>
            <a:r>
              <a:rPr lang="en-US" sz="3600" dirty="0">
                <a:solidFill>
                  <a:schemeClr val="tx1"/>
                </a:solidFill>
                <a:latin typeface="Arial" panose="020B0604020202020204" pitchFamily="34" charset="0"/>
                <a:cs typeface="Arial" panose="020B0604020202020204" pitchFamily="34" charset="0"/>
              </a:rPr>
              <a:t> de </a:t>
            </a:r>
            <a:r>
              <a:rPr lang="en-US" sz="3600" dirty="0" err="1">
                <a:solidFill>
                  <a:schemeClr val="tx1"/>
                </a:solidFill>
                <a:latin typeface="Arial" panose="020B0604020202020204" pitchFamily="34" charset="0"/>
                <a:cs typeface="Arial" panose="020B0604020202020204" pitchFamily="34" charset="0"/>
              </a:rPr>
              <a:t>datos</a:t>
            </a:r>
            <a:r>
              <a:rPr lang="en-US" sz="3600" dirty="0">
                <a:solidFill>
                  <a:schemeClr val="tx1"/>
                </a:solidFill>
                <a:latin typeface="Arial" panose="020B0604020202020204" pitchFamily="34" charset="0"/>
                <a:cs typeface="Arial" panose="020B0604020202020204" pitchFamily="34" charset="0"/>
              </a:rPr>
              <a:t> </a:t>
            </a:r>
            <a:r>
              <a:rPr lang="en-US" sz="3600" dirty="0" err="1">
                <a:solidFill>
                  <a:schemeClr val="tx1"/>
                </a:solidFill>
                <a:latin typeface="Arial" panose="020B0604020202020204" pitchFamily="34" charset="0"/>
                <a:cs typeface="Arial" panose="020B0604020202020204" pitchFamily="34" charset="0"/>
              </a:rPr>
              <a:t>en</a:t>
            </a:r>
            <a:r>
              <a:rPr lang="en-US" sz="3600" dirty="0">
                <a:solidFill>
                  <a:schemeClr val="tx1"/>
                </a:solidFill>
                <a:latin typeface="Arial" panose="020B0604020202020204" pitchFamily="34" charset="0"/>
                <a:cs typeface="Arial" panose="020B0604020202020204" pitchFamily="34" charset="0"/>
              </a:rPr>
              <a:t> las </a:t>
            </a:r>
            <a:r>
              <a:rPr lang="en-US" sz="3600" dirty="0" err="1">
                <a:solidFill>
                  <a:schemeClr val="tx1"/>
                </a:solidFill>
                <a:latin typeface="Arial" panose="020B0604020202020204" pitchFamily="34" charset="0"/>
                <a:cs typeface="Arial" panose="020B0604020202020204" pitchFamily="34" charset="0"/>
              </a:rPr>
              <a:t>instituciones</a:t>
            </a:r>
            <a:r>
              <a:rPr lang="en-US" sz="3600" dirty="0">
                <a:solidFill>
                  <a:schemeClr val="tx1"/>
                </a:solidFill>
                <a:latin typeface="Arial" panose="020B0604020202020204" pitchFamily="34" charset="0"/>
                <a:cs typeface="Arial" panose="020B0604020202020204" pitchFamily="34" charset="0"/>
              </a:rPr>
              <a:t> </a:t>
            </a:r>
            <a:r>
              <a:rPr lang="en-US" sz="3600" dirty="0" err="1">
                <a:solidFill>
                  <a:schemeClr val="tx1"/>
                </a:solidFill>
                <a:latin typeface="Arial" panose="020B0604020202020204" pitchFamily="34" charset="0"/>
                <a:cs typeface="Arial" panose="020B0604020202020204" pitchFamily="34" charset="0"/>
              </a:rPr>
              <a:t>públicas</a:t>
            </a:r>
            <a:r>
              <a:rPr lang="en-US" sz="3600" dirty="0">
                <a:solidFill>
                  <a:schemeClr val="tx1"/>
                </a:solidFill>
                <a:latin typeface="Arial" panose="020B0604020202020204" pitchFamily="34" charset="0"/>
                <a:cs typeface="Arial" panose="020B0604020202020204" pitchFamily="34" charset="0"/>
              </a:rPr>
              <a:t> de la </a:t>
            </a:r>
            <a:r>
              <a:rPr lang="en-US" sz="3600" dirty="0" err="1">
                <a:solidFill>
                  <a:schemeClr val="tx1"/>
                </a:solidFill>
                <a:latin typeface="Arial" panose="020B0604020202020204" pitchFamily="34" charset="0"/>
                <a:cs typeface="Arial" panose="020B0604020202020204" pitchFamily="34" charset="0"/>
              </a:rPr>
              <a:t>región</a:t>
            </a:r>
            <a:r>
              <a:rPr lang="en-US" sz="3600" dirty="0">
                <a:solidFill>
                  <a:schemeClr val="tx1"/>
                </a:solidFill>
                <a:latin typeface="Arial" panose="020B0604020202020204" pitchFamily="34" charset="0"/>
                <a:cs typeface="Arial" panose="020B0604020202020204" pitchFamily="34" charset="0"/>
              </a:rPr>
              <a:t> del </a:t>
            </a:r>
            <a:r>
              <a:rPr lang="en-US" sz="3600" dirty="0" err="1">
                <a:solidFill>
                  <a:schemeClr val="tx1"/>
                </a:solidFill>
                <a:latin typeface="Arial" panose="020B0604020202020204" pitchFamily="34" charset="0"/>
                <a:cs typeface="Arial" panose="020B0604020202020204" pitchFamily="34" charset="0"/>
              </a:rPr>
              <a:t>Ñuble</a:t>
            </a:r>
            <a:r>
              <a:rPr lang="en-US" sz="3600" dirty="0">
                <a:solidFill>
                  <a:schemeClr val="tx1"/>
                </a:solidFill>
                <a:latin typeface="Arial" panose="020B0604020202020204" pitchFamily="34" charset="0"/>
                <a:cs typeface="Arial" panose="020B0604020202020204" pitchFamily="34" charset="0"/>
              </a:rPr>
              <a:t>, </a:t>
            </a:r>
            <a:r>
              <a:rPr lang="en-US" sz="3600" dirty="0" err="1">
                <a:solidFill>
                  <a:schemeClr val="tx1"/>
                </a:solidFill>
                <a:latin typeface="Arial" panose="020B0604020202020204" pitchFamily="34" charset="0"/>
                <a:cs typeface="Arial" panose="020B0604020202020204" pitchFamily="34" charset="0"/>
              </a:rPr>
              <a:t>garantizando</a:t>
            </a:r>
            <a:r>
              <a:rPr lang="en-US" sz="3600" dirty="0">
                <a:solidFill>
                  <a:schemeClr val="tx1"/>
                </a:solidFill>
                <a:latin typeface="Arial" panose="020B0604020202020204" pitchFamily="34" charset="0"/>
                <a:cs typeface="Arial" panose="020B0604020202020204" pitchFamily="34" charset="0"/>
              </a:rPr>
              <a:t> mayor </a:t>
            </a:r>
            <a:r>
              <a:rPr lang="en-US" sz="3600" dirty="0" err="1">
                <a:solidFill>
                  <a:schemeClr val="tx1"/>
                </a:solidFill>
                <a:latin typeface="Arial" panose="020B0604020202020204" pitchFamily="34" charset="0"/>
                <a:cs typeface="Arial" panose="020B0604020202020204" pitchFamily="34" charset="0"/>
              </a:rPr>
              <a:t>seguridad</a:t>
            </a:r>
            <a:r>
              <a:rPr lang="en-US" sz="3600" dirty="0">
                <a:solidFill>
                  <a:schemeClr val="tx1"/>
                </a:solidFill>
                <a:latin typeface="Arial" panose="020B0604020202020204" pitchFamily="34" charset="0"/>
                <a:cs typeface="Arial" panose="020B0604020202020204" pitchFamily="34" charset="0"/>
              </a:rPr>
              <a:t> y </a:t>
            </a:r>
            <a:r>
              <a:rPr lang="en-US" sz="3600" dirty="0" err="1">
                <a:solidFill>
                  <a:schemeClr val="tx1"/>
                </a:solidFill>
                <a:latin typeface="Arial" panose="020B0604020202020204" pitchFamily="34" charset="0"/>
                <a:cs typeface="Arial" panose="020B0604020202020204" pitchFamily="34" charset="0"/>
              </a:rPr>
              <a:t>transparencia</a:t>
            </a:r>
            <a:r>
              <a:rPr lang="en-US" sz="3600" dirty="0">
                <a:solidFill>
                  <a:schemeClr val="tx1"/>
                </a:solidFill>
                <a:latin typeface="Arial" panose="020B0604020202020204" pitchFamily="34" charset="0"/>
                <a:cs typeface="Arial" panose="020B0604020202020204" pitchFamily="34" charset="0"/>
              </a:rPr>
              <a:t>, </a:t>
            </a:r>
            <a:r>
              <a:rPr lang="en-US" sz="3600" dirty="0" err="1">
                <a:solidFill>
                  <a:schemeClr val="tx1"/>
                </a:solidFill>
                <a:latin typeface="Arial" panose="020B0604020202020204" pitchFamily="34" charset="0"/>
                <a:cs typeface="Arial" panose="020B0604020202020204" pitchFamily="34" charset="0"/>
              </a:rPr>
              <a:t>durante</a:t>
            </a:r>
            <a:r>
              <a:rPr lang="en-US" sz="3600" dirty="0">
                <a:solidFill>
                  <a:schemeClr val="tx1"/>
                </a:solidFill>
                <a:latin typeface="Arial" panose="020B0604020202020204" pitchFamily="34" charset="0"/>
                <a:cs typeface="Arial" panose="020B0604020202020204" pitchFamily="34" charset="0"/>
              </a:rPr>
              <a:t> </a:t>
            </a:r>
            <a:r>
              <a:rPr lang="en-US" sz="3600" dirty="0" err="1">
                <a:solidFill>
                  <a:schemeClr val="tx1"/>
                </a:solidFill>
                <a:latin typeface="Arial" panose="020B0604020202020204" pitchFamily="34" charset="0"/>
                <a:cs typeface="Arial" panose="020B0604020202020204" pitchFamily="34" charset="0"/>
              </a:rPr>
              <a:t>el</a:t>
            </a:r>
            <a:r>
              <a:rPr lang="en-US" sz="3600" dirty="0">
                <a:solidFill>
                  <a:schemeClr val="tx1"/>
                </a:solidFill>
                <a:latin typeface="Arial" panose="020B0604020202020204" pitchFamily="34" charset="0"/>
                <a:cs typeface="Arial" panose="020B0604020202020204" pitchFamily="34" charset="0"/>
              </a:rPr>
              <a:t> </a:t>
            </a:r>
            <a:r>
              <a:rPr lang="en-US" sz="3600" dirty="0" err="1">
                <a:solidFill>
                  <a:schemeClr val="tx1"/>
                </a:solidFill>
                <a:latin typeface="Arial" panose="020B0604020202020204" pitchFamily="34" charset="0"/>
                <a:cs typeface="Arial" panose="020B0604020202020204" pitchFamily="34" charset="0"/>
              </a:rPr>
              <a:t>semestre</a:t>
            </a:r>
            <a:r>
              <a:rPr lang="en-US" sz="3600" dirty="0">
                <a:solidFill>
                  <a:schemeClr val="tx1"/>
                </a:solidFill>
                <a:latin typeface="Arial" panose="020B0604020202020204" pitchFamily="34" charset="0"/>
                <a:cs typeface="Arial" panose="020B0604020202020204" pitchFamily="34" charset="0"/>
              </a:rPr>
              <a:t> </a:t>
            </a:r>
            <a:r>
              <a:rPr lang="en-US" sz="3600" dirty="0" err="1">
                <a:solidFill>
                  <a:schemeClr val="tx1"/>
                </a:solidFill>
                <a:latin typeface="Arial" panose="020B0604020202020204" pitchFamily="34" charset="0"/>
                <a:cs typeface="Arial" panose="020B0604020202020204" pitchFamily="34" charset="0"/>
              </a:rPr>
              <a:t>otoño</a:t>
            </a:r>
            <a:r>
              <a:rPr lang="en-US" sz="3600" dirty="0">
                <a:solidFill>
                  <a:schemeClr val="tx1"/>
                </a:solidFill>
                <a:latin typeface="Arial" panose="020B0604020202020204" pitchFamily="34" charset="0"/>
                <a:cs typeface="Arial" panose="020B0604020202020204" pitchFamily="34" charset="0"/>
              </a:rPr>
              <a:t> 2025?</a:t>
            </a:r>
            <a:br>
              <a:rPr lang="en-US" sz="3800" dirty="0">
                <a:solidFill>
                  <a:srgbClr val="FFFFFF"/>
                </a:solidFill>
                <a:latin typeface="Arial" panose="020B0604020202020204" pitchFamily="34" charset="0"/>
                <a:cs typeface="Arial" panose="020B0604020202020204" pitchFamily="34" charset="0"/>
              </a:rPr>
            </a:br>
            <a:endParaRPr lang="en-US" sz="3800" dirty="0">
              <a:solidFill>
                <a:srgbClr val="FFFFFF"/>
              </a:solidFill>
              <a:latin typeface="Arial" panose="020B0604020202020204" pitchFamily="34" charset="0"/>
              <a:cs typeface="Arial" panose="020B0604020202020204" pitchFamily="34" charset="0"/>
            </a:endParaRPr>
          </a:p>
        </p:txBody>
      </p:sp>
      <p:cxnSp>
        <p:nvCxnSpPr>
          <p:cNvPr id="38" name="Straight Connector 37">
            <a:extLst>
              <a:ext uri="{FF2B5EF4-FFF2-40B4-BE49-F238E27FC236}">
                <a16:creationId xmlns:a16="http://schemas.microsoft.com/office/drawing/2014/main" id="{B1D1A340-723B-4014-B5FE-204F062731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4558589"/>
            <a:ext cx="9144000" cy="0"/>
          </a:xfrm>
          <a:prstGeom prst="line">
            <a:avLst/>
          </a:prstGeom>
          <a:ln w="28575">
            <a:solidFill>
              <a:srgbClr val="FFFFFF">
                <a:alpha val="5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9951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88DFAD4-B645-320B-12EB-3FE835E28C00}"/>
              </a:ext>
            </a:extLst>
          </p:cNvPr>
          <p:cNvPicPr>
            <a:picLocks noChangeAspect="1"/>
          </p:cNvPicPr>
          <p:nvPr/>
        </p:nvPicPr>
        <p:blipFill>
          <a:blip r:embed="rId2"/>
          <a:stretch>
            <a:fillRect/>
          </a:stretch>
        </p:blipFill>
        <p:spPr>
          <a:xfrm>
            <a:off x="181067" y="181073"/>
            <a:ext cx="11793653" cy="6017811"/>
          </a:xfrm>
          <a:prstGeom prst="rect">
            <a:avLst/>
          </a:prstGeom>
        </p:spPr>
      </p:pic>
    </p:spTree>
    <p:extLst>
      <p:ext uri="{BB962C8B-B14F-4D97-AF65-F5344CB8AC3E}">
        <p14:creationId xmlns:p14="http://schemas.microsoft.com/office/powerpoint/2010/main" val="492764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07FD12D-1628-BC2F-FD8D-4F17B8AAE934}"/>
              </a:ext>
            </a:extLst>
          </p:cNvPr>
          <p:cNvPicPr>
            <a:picLocks noChangeAspect="1"/>
          </p:cNvPicPr>
          <p:nvPr/>
        </p:nvPicPr>
        <p:blipFill>
          <a:blip r:embed="rId2"/>
          <a:stretch>
            <a:fillRect/>
          </a:stretch>
        </p:blipFill>
        <p:spPr>
          <a:xfrm>
            <a:off x="508808" y="785443"/>
            <a:ext cx="11174384" cy="5786230"/>
          </a:xfrm>
          <a:prstGeom prst="rect">
            <a:avLst/>
          </a:prstGeom>
        </p:spPr>
      </p:pic>
      <p:sp>
        <p:nvSpPr>
          <p:cNvPr id="7" name="CuadroTexto 6">
            <a:extLst>
              <a:ext uri="{FF2B5EF4-FFF2-40B4-BE49-F238E27FC236}">
                <a16:creationId xmlns:a16="http://schemas.microsoft.com/office/drawing/2014/main" id="{6B0BCE5F-7963-7F83-13F4-242565701344}"/>
              </a:ext>
            </a:extLst>
          </p:cNvPr>
          <p:cNvSpPr txBox="1"/>
          <p:nvPr/>
        </p:nvSpPr>
        <p:spPr>
          <a:xfrm>
            <a:off x="4599709" y="286327"/>
            <a:ext cx="2108013" cy="369332"/>
          </a:xfrm>
          <a:prstGeom prst="rect">
            <a:avLst/>
          </a:prstGeom>
          <a:noFill/>
        </p:spPr>
        <p:txBody>
          <a:bodyPr wrap="none" rtlCol="0">
            <a:spAutoFit/>
          </a:bodyPr>
          <a:lstStyle/>
          <a:p>
            <a:r>
              <a:rPr lang="es-ES" b="1" u="sng" dirty="0"/>
              <a:t>Primera entrevista</a:t>
            </a:r>
            <a:endParaRPr lang="es-CL" b="1" u="sng" dirty="0"/>
          </a:p>
        </p:txBody>
      </p:sp>
    </p:spTree>
    <p:extLst>
      <p:ext uri="{BB962C8B-B14F-4D97-AF65-F5344CB8AC3E}">
        <p14:creationId xmlns:p14="http://schemas.microsoft.com/office/powerpoint/2010/main" val="550655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7CB29CD-BDE9-5D24-8919-80AF27271E47}"/>
              </a:ext>
            </a:extLst>
          </p:cNvPr>
          <p:cNvPicPr>
            <a:picLocks noChangeAspect="1"/>
          </p:cNvPicPr>
          <p:nvPr/>
        </p:nvPicPr>
        <p:blipFill>
          <a:blip r:embed="rId2"/>
          <a:stretch>
            <a:fillRect/>
          </a:stretch>
        </p:blipFill>
        <p:spPr>
          <a:xfrm>
            <a:off x="465939" y="747338"/>
            <a:ext cx="11260121" cy="5824335"/>
          </a:xfrm>
          <a:prstGeom prst="rect">
            <a:avLst/>
          </a:prstGeom>
        </p:spPr>
      </p:pic>
      <p:sp>
        <p:nvSpPr>
          <p:cNvPr id="6" name="CuadroTexto 5">
            <a:extLst>
              <a:ext uri="{FF2B5EF4-FFF2-40B4-BE49-F238E27FC236}">
                <a16:creationId xmlns:a16="http://schemas.microsoft.com/office/drawing/2014/main" id="{8B2FBDF6-CE96-C589-7B72-6D7A8E6672C2}"/>
              </a:ext>
            </a:extLst>
          </p:cNvPr>
          <p:cNvSpPr txBox="1"/>
          <p:nvPr/>
        </p:nvSpPr>
        <p:spPr>
          <a:xfrm>
            <a:off x="4599709" y="286327"/>
            <a:ext cx="2198872" cy="369332"/>
          </a:xfrm>
          <a:prstGeom prst="rect">
            <a:avLst/>
          </a:prstGeom>
          <a:noFill/>
        </p:spPr>
        <p:txBody>
          <a:bodyPr wrap="none" rtlCol="0">
            <a:spAutoFit/>
          </a:bodyPr>
          <a:lstStyle/>
          <a:p>
            <a:r>
              <a:rPr lang="es-ES" b="1" u="sng" dirty="0"/>
              <a:t>Segunda entrevista</a:t>
            </a:r>
            <a:endParaRPr lang="es-CL" b="1" u="sng" dirty="0"/>
          </a:p>
        </p:txBody>
      </p:sp>
    </p:spTree>
    <p:extLst>
      <p:ext uri="{BB962C8B-B14F-4D97-AF65-F5344CB8AC3E}">
        <p14:creationId xmlns:p14="http://schemas.microsoft.com/office/powerpoint/2010/main" val="3370309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7B27E2A-5EC8-DBFE-73B7-254DB090C2A5}"/>
              </a:ext>
            </a:extLst>
          </p:cNvPr>
          <p:cNvPicPr>
            <a:picLocks noChangeAspect="1"/>
          </p:cNvPicPr>
          <p:nvPr/>
        </p:nvPicPr>
        <p:blipFill>
          <a:blip r:embed="rId2"/>
          <a:stretch>
            <a:fillRect/>
          </a:stretch>
        </p:blipFill>
        <p:spPr>
          <a:xfrm>
            <a:off x="480229" y="375860"/>
            <a:ext cx="11231542" cy="6080358"/>
          </a:xfrm>
          <a:prstGeom prst="rect">
            <a:avLst/>
          </a:prstGeom>
        </p:spPr>
      </p:pic>
      <p:sp>
        <p:nvSpPr>
          <p:cNvPr id="6" name="CuadroTexto 5">
            <a:extLst>
              <a:ext uri="{FF2B5EF4-FFF2-40B4-BE49-F238E27FC236}">
                <a16:creationId xmlns:a16="http://schemas.microsoft.com/office/drawing/2014/main" id="{1BF1F3C3-220A-B727-C92D-34012C5D9111}"/>
              </a:ext>
            </a:extLst>
          </p:cNvPr>
          <p:cNvSpPr txBox="1"/>
          <p:nvPr/>
        </p:nvSpPr>
        <p:spPr>
          <a:xfrm>
            <a:off x="4599709" y="286327"/>
            <a:ext cx="2053960" cy="369332"/>
          </a:xfrm>
          <a:prstGeom prst="rect">
            <a:avLst/>
          </a:prstGeom>
          <a:noFill/>
        </p:spPr>
        <p:txBody>
          <a:bodyPr wrap="none" rtlCol="0">
            <a:spAutoFit/>
          </a:bodyPr>
          <a:lstStyle/>
          <a:p>
            <a:r>
              <a:rPr lang="es-ES" b="1" u="sng" dirty="0"/>
              <a:t>Tercera entrevista</a:t>
            </a:r>
            <a:endParaRPr lang="es-CL" b="1" u="sng" dirty="0"/>
          </a:p>
        </p:txBody>
      </p:sp>
    </p:spTree>
    <p:extLst>
      <p:ext uri="{BB962C8B-B14F-4D97-AF65-F5344CB8AC3E}">
        <p14:creationId xmlns:p14="http://schemas.microsoft.com/office/powerpoint/2010/main" val="2955046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F20E175-6A4F-570D-35DE-4505687C6175}"/>
              </a:ext>
            </a:extLst>
          </p:cNvPr>
          <p:cNvPicPr>
            <a:picLocks noChangeAspect="1"/>
          </p:cNvPicPr>
          <p:nvPr/>
        </p:nvPicPr>
        <p:blipFill>
          <a:blip r:embed="rId2"/>
          <a:stretch>
            <a:fillRect/>
          </a:stretch>
        </p:blipFill>
        <p:spPr>
          <a:xfrm>
            <a:off x="304800" y="172544"/>
            <a:ext cx="11684000" cy="6431456"/>
          </a:xfrm>
          <a:prstGeom prst="rect">
            <a:avLst/>
          </a:prstGeom>
        </p:spPr>
      </p:pic>
    </p:spTree>
    <p:extLst>
      <p:ext uri="{BB962C8B-B14F-4D97-AF65-F5344CB8AC3E}">
        <p14:creationId xmlns:p14="http://schemas.microsoft.com/office/powerpoint/2010/main" val="1815631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6653FFA-76C9-A62E-D173-915AA5500F3E}"/>
              </a:ext>
            </a:extLst>
          </p:cNvPr>
          <p:cNvPicPr>
            <a:picLocks noChangeAspect="1"/>
          </p:cNvPicPr>
          <p:nvPr/>
        </p:nvPicPr>
        <p:blipFill>
          <a:blip r:embed="rId2"/>
          <a:stretch>
            <a:fillRect/>
          </a:stretch>
        </p:blipFill>
        <p:spPr>
          <a:xfrm>
            <a:off x="637310" y="526472"/>
            <a:ext cx="11046690" cy="5817177"/>
          </a:xfrm>
          <a:prstGeom prst="rect">
            <a:avLst/>
          </a:prstGeom>
        </p:spPr>
      </p:pic>
    </p:spTree>
    <p:extLst>
      <p:ext uri="{BB962C8B-B14F-4D97-AF65-F5344CB8AC3E}">
        <p14:creationId xmlns:p14="http://schemas.microsoft.com/office/powerpoint/2010/main" val="1981920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3F0F0FB-4D86-C51E-21B8-3E6F543B8350}"/>
              </a:ext>
            </a:extLst>
          </p:cNvPr>
          <p:cNvPicPr>
            <a:picLocks noChangeAspect="1"/>
          </p:cNvPicPr>
          <p:nvPr/>
        </p:nvPicPr>
        <p:blipFill>
          <a:blip r:embed="rId2"/>
          <a:stretch>
            <a:fillRect/>
          </a:stretch>
        </p:blipFill>
        <p:spPr>
          <a:xfrm>
            <a:off x="269763" y="1325689"/>
            <a:ext cx="11709801" cy="4012080"/>
          </a:xfrm>
          <a:prstGeom prst="rect">
            <a:avLst/>
          </a:prstGeom>
        </p:spPr>
      </p:pic>
    </p:spTree>
    <p:extLst>
      <p:ext uri="{BB962C8B-B14F-4D97-AF65-F5344CB8AC3E}">
        <p14:creationId xmlns:p14="http://schemas.microsoft.com/office/powerpoint/2010/main" val="650636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AB999D9-65DD-3AD1-F380-B72933AF8F7E}"/>
              </a:ext>
            </a:extLst>
          </p:cNvPr>
          <p:cNvPicPr>
            <a:picLocks noChangeAspect="1"/>
          </p:cNvPicPr>
          <p:nvPr/>
        </p:nvPicPr>
        <p:blipFill>
          <a:blip r:embed="rId2"/>
          <a:stretch>
            <a:fillRect/>
          </a:stretch>
        </p:blipFill>
        <p:spPr>
          <a:xfrm>
            <a:off x="277091" y="461548"/>
            <a:ext cx="11914909" cy="5934903"/>
          </a:xfrm>
          <a:prstGeom prst="rect">
            <a:avLst/>
          </a:prstGeom>
        </p:spPr>
      </p:pic>
    </p:spTree>
    <p:extLst>
      <p:ext uri="{BB962C8B-B14F-4D97-AF65-F5344CB8AC3E}">
        <p14:creationId xmlns:p14="http://schemas.microsoft.com/office/powerpoint/2010/main" val="215315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57194FF-E7EE-ED0F-5004-448D2B561245}"/>
              </a:ext>
            </a:extLst>
          </p:cNvPr>
          <p:cNvPicPr>
            <a:picLocks noChangeAspect="1"/>
          </p:cNvPicPr>
          <p:nvPr/>
        </p:nvPicPr>
        <p:blipFill>
          <a:blip r:embed="rId2"/>
          <a:stretch>
            <a:fillRect/>
          </a:stretch>
        </p:blipFill>
        <p:spPr>
          <a:xfrm>
            <a:off x="341745" y="413916"/>
            <a:ext cx="11628582" cy="6030167"/>
          </a:xfrm>
          <a:prstGeom prst="rect">
            <a:avLst/>
          </a:prstGeom>
        </p:spPr>
      </p:pic>
    </p:spTree>
    <p:extLst>
      <p:ext uri="{BB962C8B-B14F-4D97-AF65-F5344CB8AC3E}">
        <p14:creationId xmlns:p14="http://schemas.microsoft.com/office/powerpoint/2010/main" val="746354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BA5E205-05AF-0BFA-5FEA-B42A37091876}"/>
              </a:ext>
            </a:extLst>
          </p:cNvPr>
          <p:cNvPicPr>
            <a:picLocks noChangeAspect="1"/>
          </p:cNvPicPr>
          <p:nvPr/>
        </p:nvPicPr>
        <p:blipFill>
          <a:blip r:embed="rId2"/>
          <a:stretch>
            <a:fillRect/>
          </a:stretch>
        </p:blipFill>
        <p:spPr>
          <a:xfrm>
            <a:off x="267730" y="168926"/>
            <a:ext cx="11822795" cy="6296529"/>
          </a:xfrm>
          <a:prstGeom prst="rect">
            <a:avLst/>
          </a:prstGeom>
        </p:spPr>
      </p:pic>
    </p:spTree>
    <p:extLst>
      <p:ext uri="{BB962C8B-B14F-4D97-AF65-F5344CB8AC3E}">
        <p14:creationId xmlns:p14="http://schemas.microsoft.com/office/powerpoint/2010/main" val="4286564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5125059-258A-D73F-E772-9C83979B31BF}"/>
              </a:ext>
            </a:extLst>
          </p:cNvPr>
          <p:cNvPicPr>
            <a:picLocks noChangeAspect="1"/>
          </p:cNvPicPr>
          <p:nvPr/>
        </p:nvPicPr>
        <p:blipFill>
          <a:blip r:embed="rId2"/>
          <a:stretch>
            <a:fillRect/>
          </a:stretch>
        </p:blipFill>
        <p:spPr>
          <a:xfrm>
            <a:off x="240146" y="0"/>
            <a:ext cx="11951854" cy="6858000"/>
          </a:xfrm>
          <a:prstGeom prst="rect">
            <a:avLst/>
          </a:prstGeom>
        </p:spPr>
      </p:pic>
    </p:spTree>
    <p:extLst>
      <p:ext uri="{BB962C8B-B14F-4D97-AF65-F5344CB8AC3E}">
        <p14:creationId xmlns:p14="http://schemas.microsoft.com/office/powerpoint/2010/main" val="3986403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A1678F6-0CA3-1133-F84B-D0C41A18A78A}"/>
              </a:ext>
            </a:extLst>
          </p:cNvPr>
          <p:cNvPicPr>
            <a:picLocks noChangeAspect="1"/>
          </p:cNvPicPr>
          <p:nvPr/>
        </p:nvPicPr>
        <p:blipFill>
          <a:blip r:embed="rId2"/>
          <a:stretch>
            <a:fillRect/>
          </a:stretch>
        </p:blipFill>
        <p:spPr>
          <a:xfrm>
            <a:off x="498764" y="0"/>
            <a:ext cx="11240654" cy="6858000"/>
          </a:xfrm>
          <a:prstGeom prst="rect">
            <a:avLst/>
          </a:prstGeom>
        </p:spPr>
      </p:pic>
    </p:spTree>
    <p:extLst>
      <p:ext uri="{BB962C8B-B14F-4D97-AF65-F5344CB8AC3E}">
        <p14:creationId xmlns:p14="http://schemas.microsoft.com/office/powerpoint/2010/main" val="1473695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559768-77B3-576F-FD23-9D02D1F8D98B}"/>
              </a:ext>
            </a:extLst>
          </p:cNvPr>
          <p:cNvSpPr>
            <a:spLocks noGrp="1"/>
          </p:cNvSpPr>
          <p:nvPr>
            <p:ph type="title"/>
          </p:nvPr>
        </p:nvSpPr>
        <p:spPr/>
        <p:txBody>
          <a:bodyPr/>
          <a:lstStyle/>
          <a:p>
            <a:pPr algn="ctr"/>
            <a:r>
              <a:rPr lang="es-ES" dirty="0"/>
              <a:t>Conclusión </a:t>
            </a:r>
            <a:endParaRPr lang="es-CL" dirty="0"/>
          </a:p>
        </p:txBody>
      </p:sp>
      <p:sp>
        <p:nvSpPr>
          <p:cNvPr id="3" name="Marcador de contenido 2">
            <a:extLst>
              <a:ext uri="{FF2B5EF4-FFF2-40B4-BE49-F238E27FC236}">
                <a16:creationId xmlns:a16="http://schemas.microsoft.com/office/drawing/2014/main" id="{F413275D-C463-D081-9E1B-1B1D7DE827A3}"/>
              </a:ext>
            </a:extLst>
          </p:cNvPr>
          <p:cNvSpPr>
            <a:spLocks noGrp="1"/>
          </p:cNvSpPr>
          <p:nvPr>
            <p:ph idx="1"/>
          </p:nvPr>
        </p:nvSpPr>
        <p:spPr/>
        <p:txBody>
          <a:bodyPr>
            <a:normAutofit fontScale="77500" lnSpcReduction="20000"/>
          </a:bodyPr>
          <a:lstStyle/>
          <a:p>
            <a:pPr marL="0" indent="0">
              <a:buNone/>
            </a:pPr>
            <a:r>
              <a:rPr lang="es-ES" dirty="0">
                <a:latin typeface="Arial" panose="020B0604020202020204" pitchFamily="34" charset="0"/>
                <a:cs typeface="Arial" panose="020B0604020202020204" pitchFamily="34" charset="0"/>
              </a:rPr>
              <a:t>Tras analizar los principales desafíos del sistema actual de reservas digitales, basándonos en la experiencia de los usuarios. Logramos identificar una oportunidad concreta de innovación para modernizar la experiencia de los habitantes de la comuna.</a:t>
            </a:r>
          </a:p>
          <a:p>
            <a:pPr marL="0" indent="0">
              <a:buNone/>
            </a:pPr>
            <a:r>
              <a:rPr lang="es-ES" dirty="0">
                <a:latin typeface="Arial" panose="020B0604020202020204" pitchFamily="34" charset="0"/>
                <a:cs typeface="Arial" panose="020B0604020202020204" pitchFamily="34" charset="0"/>
              </a:rPr>
              <a:t>Se ha establecido una meta cuantificable de mejorar la estabilidad y reducir la complejidad en un 15% durante 2025, lo que permite monitorear el impacto real de las acciones propuestas.</a:t>
            </a:r>
          </a:p>
          <a:p>
            <a:pPr marL="0" indent="0">
              <a:buNone/>
            </a:pPr>
            <a:r>
              <a:rPr lang="es-ES" dirty="0">
                <a:latin typeface="Arial" panose="020B0604020202020204" pitchFamily="34" charset="0"/>
                <a:cs typeface="Arial" panose="020B0604020202020204" pitchFamily="34" charset="0"/>
              </a:rPr>
              <a:t>Por lo tanto, podemos concluir que:</a:t>
            </a:r>
          </a:p>
          <a:p>
            <a:r>
              <a:rPr lang="es-ES" b="1" dirty="0">
                <a:latin typeface="Arial" panose="020B0604020202020204" pitchFamily="34" charset="0"/>
                <a:cs typeface="Arial" panose="020B0604020202020204" pitchFamily="34" charset="0"/>
              </a:rPr>
              <a:t>El proyecto es viable </a:t>
            </a:r>
            <a:r>
              <a:rPr lang="es-ES" dirty="0">
                <a:latin typeface="Arial" panose="020B0604020202020204" pitchFamily="34" charset="0"/>
                <a:cs typeface="Arial" panose="020B0604020202020204" pitchFamily="34" charset="0"/>
              </a:rPr>
              <a:t>tanto técnica como estratégicamente, ya que:</a:t>
            </a:r>
          </a:p>
          <a:p>
            <a:r>
              <a:rPr lang="es-ES" b="1" dirty="0">
                <a:latin typeface="Arial" panose="020B0604020202020204" pitchFamily="34" charset="0"/>
                <a:cs typeface="Arial" panose="020B0604020202020204" pitchFamily="34" charset="0"/>
              </a:rPr>
              <a:t>Utiliza herramientas y tecnologías accesibles </a:t>
            </a:r>
            <a:r>
              <a:rPr lang="es-ES" dirty="0">
                <a:latin typeface="Arial" panose="020B0604020202020204" pitchFamily="34" charset="0"/>
                <a:cs typeface="Arial" panose="020B0604020202020204" pitchFamily="34" charset="0"/>
              </a:rPr>
              <a:t>(rediseño UX/UI, canales de ayuda digital, autenticación segura).</a:t>
            </a:r>
          </a:p>
          <a:p>
            <a:r>
              <a:rPr lang="es-ES" b="1" dirty="0">
                <a:latin typeface="Arial" panose="020B0604020202020204" pitchFamily="34" charset="0"/>
                <a:cs typeface="Arial" panose="020B0604020202020204" pitchFamily="34" charset="0"/>
              </a:rPr>
              <a:t>Involucra activamente a la comunidad</a:t>
            </a:r>
            <a:r>
              <a:rPr lang="es-ES" dirty="0">
                <a:latin typeface="Arial" panose="020B0604020202020204" pitchFamily="34" charset="0"/>
                <a:cs typeface="Arial" panose="020B0604020202020204" pitchFamily="34" charset="0"/>
              </a:rPr>
              <a:t> mediante procesos participativos y transparencia de datos.</a:t>
            </a:r>
          </a:p>
          <a:p>
            <a:r>
              <a:rPr lang="es-ES" b="1" dirty="0">
                <a:latin typeface="Arial" panose="020B0604020202020204" pitchFamily="34" charset="0"/>
                <a:cs typeface="Arial" panose="020B0604020202020204" pitchFamily="34" charset="0"/>
              </a:rPr>
              <a:t>Genera valor público </a:t>
            </a:r>
            <a:r>
              <a:rPr lang="es-ES" dirty="0">
                <a:latin typeface="Arial" panose="020B0604020202020204" pitchFamily="34" charset="0"/>
                <a:cs typeface="Arial" panose="020B0604020202020204" pitchFamily="34" charset="0"/>
              </a:rPr>
              <a:t>al reducir filas presenciales, aumentar la autonomía digital y fomentar la confianza ciudadana.</a:t>
            </a:r>
          </a:p>
          <a:p>
            <a:r>
              <a:rPr lang="es-ES" dirty="0">
                <a:latin typeface="Arial" panose="020B0604020202020204" pitchFamily="34" charset="0"/>
                <a:cs typeface="Arial" panose="020B0604020202020204" pitchFamily="34" charset="0"/>
              </a:rPr>
              <a:t>Por tanto, </a:t>
            </a:r>
            <a:r>
              <a:rPr lang="es-ES" b="1" dirty="0">
                <a:latin typeface="Arial" panose="020B0604020202020204" pitchFamily="34" charset="0"/>
                <a:cs typeface="Arial" panose="020B0604020202020204" pitchFamily="34" charset="0"/>
              </a:rPr>
              <a:t>se recomienda continuar con la implementación del proyecto</a:t>
            </a:r>
            <a:r>
              <a:rPr lang="es-ES" dirty="0">
                <a:latin typeface="Arial" panose="020B0604020202020204" pitchFamily="34" charset="0"/>
                <a:cs typeface="Arial" panose="020B0604020202020204" pitchFamily="34" charset="0"/>
              </a:rPr>
              <a:t>, comenzando con una fase piloto controlada, monitoreada por indicadores clave de éxito (como satisfacción del usuario, tasa de reservas exitosas, y tiempo promedio de respuesta). Esta fase permitirá validar soluciones antes de una expansión total a nivel comunal.</a:t>
            </a:r>
          </a:p>
          <a:p>
            <a:endParaRPr lang="es-CL" dirty="0"/>
          </a:p>
        </p:txBody>
      </p:sp>
    </p:spTree>
    <p:extLst>
      <p:ext uri="{BB962C8B-B14F-4D97-AF65-F5344CB8AC3E}">
        <p14:creationId xmlns:p14="http://schemas.microsoft.com/office/powerpoint/2010/main" val="27187167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Letras en madera">
  <a:themeElements>
    <a:clrScheme name="Escala de grise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Letras en madera">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Letras en madera">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TM03090434[[fn=Letras en madera]]</Template>
  <TotalTime>75</TotalTime>
  <Words>295</Words>
  <Application>Microsoft Office PowerPoint</Application>
  <PresentationFormat>Panorámica</PresentationFormat>
  <Paragraphs>26</Paragraphs>
  <Slides>15</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15</vt:i4>
      </vt:variant>
    </vt:vector>
  </HeadingPairs>
  <TitlesOfParts>
    <vt:vector size="21" baseType="lpstr">
      <vt:lpstr>Arial</vt:lpstr>
      <vt:lpstr>Myriad Pro Light</vt:lpstr>
      <vt:lpstr>Rockwell</vt:lpstr>
      <vt:lpstr>Rockwell Condensed</vt:lpstr>
      <vt:lpstr>Wingdings</vt:lpstr>
      <vt:lpstr>Letras en madera</vt:lpstr>
      <vt:lpstr>Detección de oportunidades e ideación de propuestas.</vt:lpstr>
      <vt:lpstr>Propuesta de desafío:   ¿Cómo podríamos fortalecer la gestión de datos en las instituciones públicas de la región del Ñuble, garantizando mayor seguridad y transparencia, durante el semestre otoño 2025?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BENJAMIN IVAN MALDONADO BARRALES</dc:creator>
  <cp:lastModifiedBy>BENJAMIN IVAN MALDONADO BARRALES</cp:lastModifiedBy>
  <cp:revision>1</cp:revision>
  <dcterms:created xsi:type="dcterms:W3CDTF">2025-06-13T01:56:54Z</dcterms:created>
  <dcterms:modified xsi:type="dcterms:W3CDTF">2025-06-13T03:12:27Z</dcterms:modified>
</cp:coreProperties>
</file>